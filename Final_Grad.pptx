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13716000" cx="24384000"/>
  <p:notesSz cx="6858000" cy="9144000"/>
  <p:embeddedFontLst>
    <p:embeddedFont>
      <p:font typeface="Playfair Display"/>
      <p:regular r:id="rId49"/>
      <p:bold r:id="rId50"/>
      <p:italic r:id="rId51"/>
      <p:boldItalic r:id="rId52"/>
    </p:embeddedFont>
    <p:embeddedFont>
      <p:font typeface="Playfair Display ExtraBold"/>
      <p:bold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0A0426-9398-439B-94DB-5C250F3659D5}">
  <a:tblStyle styleId="{7A0A0426-9398-439B-94DB-5C250F3659D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PlayfairDispl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ayfairDisplay-italic.fntdata"/><Relationship Id="rId50" Type="http://schemas.openxmlformats.org/officeDocument/2006/relationships/font" Target="fonts/PlayfairDisplay-bold.fntdata"/><Relationship Id="rId53" Type="http://schemas.openxmlformats.org/officeDocument/2006/relationships/font" Target="fonts/PlayfairDisplayExtraBold-bold.fntdata"/><Relationship Id="rId52" Type="http://schemas.openxmlformats.org/officeDocument/2006/relationships/font" Target="fonts/PlayfairDisplay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PlayfairDisplayExtra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d767af25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ebd767af25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d767af2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ebd767af2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0" y="-16933"/>
            <a:ext cx="24384000" cy="13732934"/>
            <a:chOff x="0" y="-8467"/>
            <a:chExt cx="12192000" cy="6866467"/>
          </a:xfrm>
        </p:grpSpPr>
        <p:cxnSp>
          <p:nvCxnSpPr>
            <p:cNvPr id="29" name="Google Shape;29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" name="Google Shape;31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784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784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784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274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2"/>
          <p:cNvSpPr txBox="1"/>
          <p:nvPr>
            <p:ph type="ctrTitle"/>
          </p:nvPr>
        </p:nvSpPr>
        <p:spPr>
          <a:xfrm>
            <a:off x="3014134" y="4809068"/>
            <a:ext cx="15533872" cy="32926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800"/>
              <a:buFont typeface="Trebuchet MS"/>
              <a:buNone/>
              <a:defRPr sz="10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subTitle"/>
          </p:nvPr>
        </p:nvSpPr>
        <p:spPr>
          <a:xfrm>
            <a:off x="3014134" y="8101667"/>
            <a:ext cx="15533872" cy="2193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Trebuchet MS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354668" y="4321179"/>
            <a:ext cx="17193336" cy="7761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1354670" y="5401735"/>
            <a:ext cx="17193336" cy="3653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Trebuchet MS"/>
              <a:buNone/>
              <a:defRPr b="0" sz="8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1354670" y="9054896"/>
            <a:ext cx="17193336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200"/>
              <a:buNone/>
              <a:defRPr sz="4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354669" y="4321178"/>
            <a:ext cx="8368070" cy="776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2" type="body"/>
          </p:nvPr>
        </p:nvSpPr>
        <p:spPr>
          <a:xfrm>
            <a:off x="10179940" y="4321179"/>
            <a:ext cx="8368068" cy="7761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" type="body"/>
          </p:nvPr>
        </p:nvSpPr>
        <p:spPr>
          <a:xfrm>
            <a:off x="1351491" y="4321966"/>
            <a:ext cx="8371246" cy="11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840"/>
              <a:buNone/>
              <a:defRPr b="0" sz="4800"/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200"/>
              <a:buNone/>
              <a:defRPr b="1" sz="4000"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b="1" sz="3600"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9pPr>
          </a:lstStyle>
          <a:p/>
        </p:txBody>
      </p:sp>
      <p:sp>
        <p:nvSpPr>
          <p:cNvPr id="76" name="Google Shape;76;p8"/>
          <p:cNvSpPr txBox="1"/>
          <p:nvPr>
            <p:ph idx="2" type="body"/>
          </p:nvPr>
        </p:nvSpPr>
        <p:spPr>
          <a:xfrm>
            <a:off x="1351491" y="5474491"/>
            <a:ext cx="8371246" cy="6608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3" type="body"/>
          </p:nvPr>
        </p:nvSpPr>
        <p:spPr>
          <a:xfrm>
            <a:off x="10176766" y="4321966"/>
            <a:ext cx="8371236" cy="11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840"/>
              <a:buNone/>
              <a:defRPr b="0" sz="4800"/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200"/>
              <a:buNone/>
              <a:defRPr b="1" sz="4000"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b="1" sz="3600"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b="1" sz="3200"/>
            </a:lvl9pPr>
          </a:lstStyle>
          <a:p/>
        </p:txBody>
      </p:sp>
      <p:sp>
        <p:nvSpPr>
          <p:cNvPr id="78" name="Google Shape;78;p8"/>
          <p:cNvSpPr txBox="1"/>
          <p:nvPr>
            <p:ph idx="4" type="body"/>
          </p:nvPr>
        </p:nvSpPr>
        <p:spPr>
          <a:xfrm>
            <a:off x="10176769" y="5474491"/>
            <a:ext cx="8371234" cy="6608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/>
          <p:nvPr>
            <p:ph type="title"/>
          </p:nvPr>
        </p:nvSpPr>
        <p:spPr>
          <a:xfrm>
            <a:off x="1354668" y="2997208"/>
            <a:ext cx="7709056" cy="2556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" type="body"/>
          </p:nvPr>
        </p:nvSpPr>
        <p:spPr>
          <a:xfrm>
            <a:off x="9520923" y="1029849"/>
            <a:ext cx="9027082" cy="11052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2" type="body"/>
          </p:nvPr>
        </p:nvSpPr>
        <p:spPr>
          <a:xfrm>
            <a:off x="1354668" y="5554139"/>
            <a:ext cx="7709056" cy="5168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9pPr>
          </a:lstStyle>
          <a:p/>
        </p:txBody>
      </p:sp>
      <p:sp>
        <p:nvSpPr>
          <p:cNvPr id="86" name="Google Shape;86;p9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1354669" y="9601200"/>
            <a:ext cx="17193334" cy="11334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Trebuchet MS"/>
              <a:buNone/>
              <a:defRPr b="0"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1354668" y="1219200"/>
            <a:ext cx="17193336" cy="769143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1354669" y="10734676"/>
            <a:ext cx="17193334" cy="1348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None/>
              <a:defRPr sz="1800"/>
            </a:lvl9pPr>
          </a:lstStyle>
          <a:p/>
        </p:txBody>
      </p:sp>
      <p:sp>
        <p:nvSpPr>
          <p:cNvPr id="93" name="Google Shape;93;p10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1354670" y="1219200"/>
            <a:ext cx="17193336" cy="68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Trebuchet MS"/>
              <a:buNone/>
              <a:defRPr b="0" sz="8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>
            <a:off x="1354670" y="8940800"/>
            <a:ext cx="17193336" cy="3141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1862668" y="1219200"/>
            <a:ext cx="16188268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Trebuchet MS"/>
              <a:buNone/>
              <a:defRPr b="0" sz="8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" type="body"/>
          </p:nvPr>
        </p:nvSpPr>
        <p:spPr>
          <a:xfrm>
            <a:off x="2732278" y="7264400"/>
            <a:ext cx="14449048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Font typeface="Trebuchet MS"/>
              <a:buNone/>
              <a:defRPr sz="3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2" type="body"/>
          </p:nvPr>
        </p:nvSpPr>
        <p:spPr>
          <a:xfrm>
            <a:off x="1354670" y="8940800"/>
            <a:ext cx="17193336" cy="3141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2"/>
          <p:cNvSpPr txBox="1"/>
          <p:nvPr/>
        </p:nvSpPr>
        <p:spPr>
          <a:xfrm>
            <a:off x="1083740" y="1580756"/>
            <a:ext cx="1219200" cy="1169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1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17786022" y="5773112"/>
            <a:ext cx="1219200" cy="1169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1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72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1354670" y="3863976"/>
            <a:ext cx="17193336" cy="5190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Trebuchet MS"/>
              <a:buNone/>
              <a:defRPr b="0" sz="8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body"/>
          </p:nvPr>
        </p:nvSpPr>
        <p:spPr>
          <a:xfrm>
            <a:off x="1354670" y="9054896"/>
            <a:ext cx="17193336" cy="302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1862668" y="1219200"/>
            <a:ext cx="16188268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Trebuchet MS"/>
              <a:buNone/>
              <a:defRPr b="0" sz="8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1354665" y="8026400"/>
            <a:ext cx="17193338" cy="1028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840"/>
              <a:buFont typeface="Trebuchet MS"/>
              <a:buNone/>
              <a:defRPr sz="4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2" type="body"/>
          </p:nvPr>
        </p:nvSpPr>
        <p:spPr>
          <a:xfrm>
            <a:off x="1354670" y="9054896"/>
            <a:ext cx="17193336" cy="302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083740" y="1580756"/>
            <a:ext cx="1219200" cy="1169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1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7786022" y="5773112"/>
            <a:ext cx="1219200" cy="1169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0"/>
              <a:buFont typeface="Arial"/>
              <a:buNone/>
            </a:pPr>
            <a:r>
              <a:rPr b="0" i="0" lang="en-US" sz="1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1371599" y="1219200"/>
            <a:ext cx="17176406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800"/>
              <a:buFont typeface="Trebuchet MS"/>
              <a:buNone/>
              <a:defRPr b="0" sz="8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1354665" y="8026400"/>
            <a:ext cx="17193338" cy="10284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840"/>
              <a:buFont typeface="Trebuchet MS"/>
              <a:buNone/>
              <a:defRPr sz="4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92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2" type="body"/>
          </p:nvPr>
        </p:nvSpPr>
        <p:spPr>
          <a:xfrm>
            <a:off x="1354670" y="9054896"/>
            <a:ext cx="17193336" cy="3027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8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56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15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 rot="5400000">
            <a:off x="6070563" y="-394716"/>
            <a:ext cx="7761546" cy="17193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 rot="5400000">
            <a:off x="11988639" y="5165907"/>
            <a:ext cx="10502902" cy="260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 rot="5400000">
            <a:off x="3163370" y="-589500"/>
            <a:ext cx="10502900" cy="14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16933"/>
            <a:ext cx="24384000" cy="13732934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784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784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784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274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1354668" y="1219200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Trebuchet MS"/>
              <a:buNone/>
              <a:defRPr b="0" i="0" sz="72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1354668" y="4321179"/>
            <a:ext cx="17193336" cy="7761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►"/>
              <a:defRPr b="0" i="0" sz="3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91160" lvl="1" marL="914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►"/>
              <a:defRPr b="0" i="0" sz="3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70840" lvl="2" marL="13716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►"/>
              <a:defRPr b="0" i="0" sz="2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0520" lvl="3" marL="18288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0520" lvl="4" marL="22860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0520" lvl="5" marL="27432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50520" lvl="6" marL="32004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50520" lvl="7" marL="36576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50520" lvl="8" marL="411480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►"/>
              <a:defRPr b="0" i="0" sz="2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14410267" y="12082725"/>
            <a:ext cx="18238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1354668" y="12082725"/>
            <a:ext cx="1259522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17181327" y="12082725"/>
            <a:ext cx="136667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jpg"/><Relationship Id="rId4" Type="http://schemas.openxmlformats.org/officeDocument/2006/relationships/image" Target="../media/image3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rxiv.org/abs/2006.11477" TargetMode="External"/><Relationship Id="rId4" Type="http://schemas.openxmlformats.org/officeDocument/2006/relationships/hyperlink" Target="https://journals.plos.org/plosone/article?id=10.1371/journal.pone.0196391" TargetMode="External"/><Relationship Id="rId9" Type="http://schemas.openxmlformats.org/officeDocument/2006/relationships/hyperlink" Target="https://huggingface.co/superb" TargetMode="External"/><Relationship Id="rId5" Type="http://schemas.openxmlformats.org/officeDocument/2006/relationships/hyperlink" Target="https://journals.plos.org/plosone/article?id=10.1371/journal.pone.0196391" TargetMode="External"/><Relationship Id="rId6" Type="http://schemas.openxmlformats.org/officeDocument/2006/relationships/hyperlink" Target="https://sail.usc.edu/iemocap/" TargetMode="External"/><Relationship Id="rId7" Type="http://schemas.openxmlformats.org/officeDocument/2006/relationships/hyperlink" Target="https://sail.usc.edu/iemocap/" TargetMode="External"/><Relationship Id="rId8" Type="http://schemas.openxmlformats.org/officeDocument/2006/relationships/hyperlink" Target="https://huggingface.co/superb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99638" y="4275125"/>
            <a:ext cx="131361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6200" u="none" cap="none" strike="noStrike">
                <a:solidFill>
                  <a:srgbClr val="17171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AI-Powered Assistive System for</a:t>
            </a:r>
            <a:endParaRPr b="1" i="0" sz="6200" u="none" cap="none" strike="noStrike">
              <a:solidFill>
                <a:srgbClr val="17171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6200" u="none" cap="none" strike="noStrike">
                <a:solidFill>
                  <a:srgbClr val="17171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Alzheimer’s Patients</a:t>
            </a:r>
            <a:endParaRPr b="1" i="0" sz="62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98700" y="11053625"/>
            <a:ext cx="839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800" u="none" cap="none" strike="noStrike">
                <a:solidFill>
                  <a:srgbClr val="17171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Mahmoud Saber</a:t>
            </a:r>
            <a:endParaRPr b="1" i="0" sz="48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-1530220" y="8033925"/>
            <a:ext cx="1220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2461150" y="6857988"/>
            <a:ext cx="745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Team Members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384125" y="7835125"/>
            <a:ext cx="8213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Ahmed Nada Ahmed       22101167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Omar ibrahim suliman    22100974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Ahmed Fathy Ahmed     22101981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 Abdelmaged Kamel 22100953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Negma Abderhman Ali   22101242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Rokia Islam Elsayed       22101084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9058200" y="1285875"/>
            <a:ext cx="62676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Trebuchet MS"/>
              <a:buNone/>
            </a:pPr>
            <a:r>
              <a:rPr b="1" lang="en-US" sz="6400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Agenda</a:t>
            </a:r>
            <a:endParaRPr b="1" sz="6400">
              <a:solidFill>
                <a:srgbClr val="00206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3825500"/>
            <a:ext cx="2762150" cy="27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6475" y="8051975"/>
            <a:ext cx="2867775" cy="26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41725" y="7993025"/>
            <a:ext cx="2867774" cy="27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76075" y="3873449"/>
            <a:ext cx="2740601" cy="27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3547975" y="4357150"/>
            <a:ext cx="4592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Ahmed Nada </a:t>
            </a:r>
            <a:endParaRPr b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Introduction &amp; Motivation, Cognitive Exercises </a:t>
            </a:r>
            <a:endParaRPr sz="3000"/>
          </a:p>
        </p:txBody>
      </p:sp>
      <p:sp>
        <p:nvSpPr>
          <p:cNvPr id="165" name="Google Shape;165;p19"/>
          <p:cNvSpPr txBox="1"/>
          <p:nvPr/>
        </p:nvSpPr>
        <p:spPr>
          <a:xfrm>
            <a:off x="3558725" y="8782825"/>
            <a:ext cx="459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Ahmed Fathy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Location Tracking </a:t>
            </a:r>
            <a:endParaRPr sz="3000"/>
          </a:p>
        </p:txBody>
      </p:sp>
      <p:sp>
        <p:nvSpPr>
          <p:cNvPr id="166" name="Google Shape;166;p19"/>
          <p:cNvSpPr txBox="1"/>
          <p:nvPr/>
        </p:nvSpPr>
        <p:spPr>
          <a:xfrm>
            <a:off x="19584075" y="4458800"/>
            <a:ext cx="41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Aya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Chatbot (RAG-Based Assistant) </a:t>
            </a:r>
            <a:endParaRPr sz="3000"/>
          </a:p>
        </p:txBody>
      </p:sp>
      <p:sp>
        <p:nvSpPr>
          <p:cNvPr id="167" name="Google Shape;167;p19"/>
          <p:cNvSpPr txBox="1"/>
          <p:nvPr/>
        </p:nvSpPr>
        <p:spPr>
          <a:xfrm>
            <a:off x="11487700" y="8668925"/>
            <a:ext cx="459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Rokia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Medication Reminder &amp; Daily Plan Management </a:t>
            </a:r>
            <a:endParaRPr sz="3000"/>
          </a:p>
        </p:txBody>
      </p:sp>
      <p:sp>
        <p:nvSpPr>
          <p:cNvPr id="168" name="Google Shape;168;p19"/>
          <p:cNvSpPr txBox="1"/>
          <p:nvPr/>
        </p:nvSpPr>
        <p:spPr>
          <a:xfrm>
            <a:off x="19416675" y="8841775"/>
            <a:ext cx="4974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Negma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AI Mood Detection System </a:t>
            </a:r>
            <a:endParaRPr sz="3000"/>
          </a:p>
        </p:txBody>
      </p:sp>
      <p:sp>
        <p:nvSpPr>
          <p:cNvPr id="169" name="Google Shape;169;p19"/>
          <p:cNvSpPr txBox="1"/>
          <p:nvPr/>
        </p:nvSpPr>
        <p:spPr>
          <a:xfrm>
            <a:off x="11816063" y="4341838"/>
            <a:ext cx="469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Omar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Software Development &amp; System Integration </a:t>
            </a:r>
            <a:endParaRPr sz="3000"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90900" y="3899850"/>
            <a:ext cx="2974950" cy="26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125" y="8050850"/>
            <a:ext cx="2867774" cy="27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5643713" y="979185"/>
            <a:ext cx="12101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Trebuchet MS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Introduction</a:t>
            </a:r>
            <a:endParaRPr sz="6400"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1007" y="2962202"/>
            <a:ext cx="10947917" cy="8595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36706" y="3531342"/>
            <a:ext cx="12436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ALZCare: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AI-Powered Assistive System for Alzheimer’s Patients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64906" y="6331601"/>
            <a:ext cx="109479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intelligent web-based system that supports Alzheimer’s patients in managing daily life, while enabling doctors and families to monitor and assist them effectively.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36706" y="5746601"/>
            <a:ext cx="1220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5562600" y="979175"/>
            <a:ext cx="15354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Trebuchet MS"/>
              <a:buNone/>
            </a:pPr>
            <a:r>
              <a:rPr b="1" lang="en-US" sz="6400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 </a:t>
            </a:r>
            <a:r>
              <a:rPr b="1" lang="en-US" sz="7205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Motivation / Why ALZCare</a:t>
            </a:r>
            <a:endParaRPr b="1" sz="7205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95075" y="3169050"/>
            <a:ext cx="11668800" cy="7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/ Why ALZCare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55M+ patients worldwide → 139M by 2050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Egyptian families face daily issues: memory loss &amp; missed meds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systems lack: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Real-time reminders + 24/7 monitoring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Remote doctor follow-up + AI emotion tracking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ALZCare solves this: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Enhances safety &amp; independence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Supports doctor monitoring + keeps families reassured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1025" y="2962203"/>
            <a:ext cx="10947899" cy="8595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5643728" y="979175"/>
            <a:ext cx="14873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7111"/>
              <a:buFont typeface="Arial"/>
              <a:buNone/>
            </a:pPr>
            <a:r>
              <a:rPr b="1" lang="en-US" sz="6400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</a:t>
            </a:r>
            <a:r>
              <a:rPr b="1" i="0" lang="en-US" sz="6400" u="none" cap="none" strike="noStrike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&amp; Local Numbers </a:t>
            </a:r>
            <a:endParaRPr b="1" i="0" sz="64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276600"/>
            <a:ext cx="18745201" cy="79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5643728" y="979175"/>
            <a:ext cx="14873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7111"/>
              <a:buFont typeface="Arial"/>
              <a:buNone/>
            </a:pPr>
            <a:r>
              <a:rPr b="1" lang="en-US" sz="6400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Survey Insights </a:t>
            </a:r>
            <a:endParaRPr b="1" i="0" sz="64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473575" y="3163800"/>
            <a:ext cx="10072800" cy="7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The survey results show that users see strong value in a unified Alzheimer’s care platform.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The most attractive features were the AI assistant, location tracking, mood analysis, and notifications.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The main concerns were data privacy, internet dependence, ease of use, healthcare compliance, and AI accuracy.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Overall, users have a positive impression of the system, but trust, security, and simplicity should be prioritized.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0800" y="3223650"/>
            <a:ext cx="7072326" cy="308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7550" y="3223651"/>
            <a:ext cx="5956425" cy="30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51325" y="7629650"/>
            <a:ext cx="6774575" cy="27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33125" y="7629650"/>
            <a:ext cx="6170850" cy="27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5643713" y="979185"/>
            <a:ext cx="12101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Trebuchet MS"/>
              <a:buNone/>
            </a:pPr>
            <a:r>
              <a:rPr b="1" lang="en-US" sz="6400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</a:t>
            </a:r>
            <a:r>
              <a:rPr b="1" i="0" lang="en-US" sz="6400" u="none" cap="none" strike="noStrike">
                <a:solidFill>
                  <a:srgbClr val="00206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Problems</a:t>
            </a:r>
            <a:endParaRPr b="1" sz="64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901575" y="3246588"/>
            <a:ext cx="13801800" cy="8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forget important people and memories.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miss medications and daily tasks.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Caregivers need personalized answers to patient-related questions.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Emotional changes are difficult to monitor.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may wander beyond safe areas.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4475" y="4121025"/>
            <a:ext cx="9206250" cy="62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9852350" y="936200"/>
            <a:ext cx="9116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400">
                <a:solidFill>
                  <a:schemeClr val="dk1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                                                                                                           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Components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Trebuchet MS"/>
              <a:buNone/>
            </a:pPr>
            <a:r>
              <a:t/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901575" y="3246588"/>
            <a:ext cx="13801800" cy="8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Components</a:t>
            </a:r>
            <a:endParaRPr b="1"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Watch Integration</a:t>
            </a:r>
            <a:endParaRPr b="1"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RAG-based Medical Chatbot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Detection System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Reminder Service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Exercise Module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Tracking 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MongoDB Database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7250" y="3364950"/>
            <a:ext cx="13329600" cy="779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/>
        </p:nvSpPr>
        <p:spPr>
          <a:xfrm>
            <a:off x="4318725" y="1380382"/>
            <a:ext cx="173535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6500" u="none" cap="none" strike="noStrike">
                <a:solidFill>
                  <a:srgbClr val="0F0F6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Available Solutions 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26"/>
          <p:cNvGraphicFramePr/>
          <p:nvPr/>
        </p:nvGraphicFramePr>
        <p:xfrm>
          <a:off x="3988000" y="4045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{7A0A0426-9398-439B-94DB-5C250F3659D5}</a:tableStyleId>
              </a:tblPr>
              <a:tblGrid>
                <a:gridCol w="3095700"/>
                <a:gridCol w="2271275"/>
                <a:gridCol w="1737800"/>
                <a:gridCol w="1365250"/>
                <a:gridCol w="3158625"/>
                <a:gridCol w="1349375"/>
                <a:gridCol w="2261050"/>
                <a:gridCol w="1828250"/>
              </a:tblGrid>
              <a:tr h="171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Solution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Medication Reminder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Family Alerts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GPS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Emotion Detection (Vo</a:t>
                      </a:r>
                      <a:r>
                        <a:rPr b="1" lang="en-US" sz="3000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ice</a:t>
                      </a: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 Chat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Cognitive Exercises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Central System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</a:tr>
              <a:tr h="7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MindMate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6AA84F"/>
                          </a:solidFill>
                        </a:rPr>
                        <a:t> </a:t>
                      </a:r>
                      <a:r>
                        <a:rPr b="1" lang="en-US" sz="3400" u="none" cap="none" strike="noStrike">
                          <a:solidFill>
                            <a:srgbClr val="93C47D"/>
                          </a:solidFill>
                        </a:rPr>
                        <a:t>✔</a:t>
                      </a:r>
                      <a:endParaRPr b="1" sz="3400" u="none" cap="none" strike="noStrike">
                        <a:solidFill>
                          <a:srgbClr val="93C47D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AngelSense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 u="none" cap="none" strike="noStrike">
                          <a:solidFill>
                            <a:srgbClr val="93C47D"/>
                          </a:solidFill>
                        </a:rPr>
                        <a:t>✔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Earkick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 u="none" cap="none" strike="noStrike">
                          <a:solidFill>
                            <a:srgbClr val="93C47D"/>
                          </a:solidFill>
                        </a:rPr>
                        <a:t>✔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2012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CaringBridge</a:t>
                      </a:r>
                      <a:endParaRPr b="1" sz="3000" u="none" cap="none" strike="noStrike">
                        <a:solidFill>
                          <a:srgbClr val="20124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 u="none" cap="none" strike="noStrike">
                          <a:solidFill>
                            <a:srgbClr val="93C47D"/>
                          </a:solidFill>
                        </a:rPr>
                        <a:t>✔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❌</a:t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/>
        </p:nvSpPr>
        <p:spPr>
          <a:xfrm>
            <a:off x="7194685" y="1019664"/>
            <a:ext cx="12192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Functional Requirements</a:t>
            </a: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27"/>
          <p:cNvGraphicFramePr/>
          <p:nvPr/>
        </p:nvGraphicFramePr>
        <p:xfrm>
          <a:off x="977660" y="28467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{7A0A0426-9398-439B-94DB-5C250F3659D5}</a:tableStyleId>
              </a:tblPr>
              <a:tblGrid>
                <a:gridCol w="1946500"/>
                <a:gridCol w="18264700"/>
              </a:tblGrid>
              <a:tr h="68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/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/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AF6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FR-01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Three independent authentication flows (doctor/family/patient), each with its own signed token and role middleware.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FR-02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Doctors manage full patient profiles with unique auto-generated identifiers (ALZ-XXXXXX) and create permission-scoped family accounts.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FR-03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Medication prescribing with flexible schedules; auditable intake logging; automatic adherence statistics.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FR-04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Structured mood entries (label, 1–10 score, behaviors); scores ≤3 or abnormal behaviors auto-flagged with a notification.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FR-05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Families build daily plans of typed, timed events triggered automatically and pushed to the patient device in real time.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FR-06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Patients answer events by voice; every response resolves to a definite status with an audit trail and a medical risk level; medication events synchronize into the medication log.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FR-07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Periodic GPS reporting with throttled writes, a rolling history, and a live family map.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FR-08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circular safety zone per patient (radius 50–5,000 m); an inside→outside transition raises one urgent real-time alert.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FR-09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Family-enrolled persons (≤20 photos each) recognized live on the patient's camera with a name/relation overlay.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FR-10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albums feed five cognitive exercise types with server-side scoring and longitudinal analytics.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FR-11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AI assistant answers all roles, grounded in the live patient record or a curated knowledge base, with role-adapted tone.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FR-12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Categorized, prioritized notifications (11 types, 4 priorities) persisted and delivered in real time.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C"/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FR-13 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acoustic model estimates the patient's mood (six classes) and arousal (low/high) from check-in voice audio, reporting calibrated probabilities and abstaining when confidence is low so uncertain cases escalate to a human. </a:t>
                      </a:r>
                      <a:endParaRPr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7157025" y="1213325"/>
            <a:ext cx="14792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Non-Functional Requirements</a:t>
            </a:r>
            <a:r>
              <a:rPr b="0" i="0" lang="en-US" sz="6400" u="none" cap="none" strike="noStrike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​​</a:t>
            </a:r>
            <a:endParaRPr b="0" i="0" sz="6400" u="none" cap="none" strike="noStrike">
              <a:solidFill>
                <a:srgbClr val="00000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925096" y="2609875"/>
            <a:ext cx="16877700" cy="10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Non-Functional Requirements: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Non-functional requirements define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attributes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system.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NFR-1 Usability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provide a simple, elderly-friendly interface.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minimize user interaction complexity.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support voice-based navigation.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NFR-2 Performance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respond to user actions within acceptable time limits.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and emotion recognition shall execute in near real-time.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shall be delivered instantly during emergencies.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NFR-3 Security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use authentication and authorization mechanisms.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patient data shall be encrypted during storage and transmission.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shall be role-based (patient, family, doctor, admin).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NFR-4 Reliability and Availability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operate continuously with minimal downtime.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recover gracefully from failures.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services shall be available 24/7.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NFR-5 Scalability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support multiple patients and caregivers.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shall allow future integration with wearable devices.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/>
        </p:nvSpPr>
        <p:spPr>
          <a:xfrm>
            <a:off x="7534550" y="1208356"/>
            <a:ext cx="12192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User Requirements</a:t>
            </a:r>
            <a:r>
              <a:rPr b="0" i="0" lang="en-US" sz="6400" u="none" cap="none" strike="noStrike">
                <a:solidFill>
                  <a:srgbClr val="00000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​​​​​</a:t>
            </a:r>
            <a:endParaRPr b="0" i="0" sz="6400" u="none" cap="none" strike="noStrike">
              <a:solidFill>
                <a:srgbClr val="00000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916427" y="2908925"/>
            <a:ext cx="15351300" cy="10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Requirements: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requirements describe expectations from each user group.​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Requirements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Easy-to-use interface with voice assistance.​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reminders for medications and appointments.​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help during emergencies.​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Requirements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alerts and patient location tracking.​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Emotional and behavioral summaries.​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and reassurance tools.​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 Requirements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and structured patient reports.​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warnings for abnormal behavior.​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access to patient data.​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Administrator Requirements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and system management tools.​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and logging capabilities.​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and compliance enforcement.​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3570230" y="419933"/>
            <a:ext cx="17193336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6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Requirement </a:t>
            </a:r>
            <a:endParaRPr b="1" sz="6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Arial"/>
              <a:buNone/>
            </a:pPr>
            <a:r>
              <a:t/>
            </a:r>
            <a:endParaRPr b="1" i="0" u="none" cap="none" strike="noStrike">
              <a:solidFill>
                <a:srgbClr val="0070C0"/>
              </a:solidFill>
            </a:endParaRPr>
          </a:p>
        </p:txBody>
      </p:sp>
      <p:pic>
        <p:nvPicPr>
          <p:cNvPr descr="A diagram of a computer server&#10;&#10;AI-generated content may be incorrect."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2" y="2128817"/>
            <a:ext cx="12881932" cy="8845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computer server&#10;&#10;AI-generated content may be incorrect." id="249" name="Google Shape;2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083" y="2128486"/>
            <a:ext cx="12360215" cy="886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5643713" y="979185"/>
            <a:ext cx="12101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Arial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Design Requirement </a:t>
            </a:r>
            <a:endParaRPr i="0" sz="6400" u="none" cap="none" strike="noStrike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descr="A diagram of a stage&#10;&#10;AI-generated content may be incorrect." id="255" name="Google Shape;2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3317" y="2902671"/>
            <a:ext cx="12642549" cy="8051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patient&#10;&#10;AI-generated content may be incorrect." id="256" name="Google Shape;2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44" y="2502508"/>
            <a:ext cx="11742346" cy="9471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/>
        </p:nvSpPr>
        <p:spPr>
          <a:xfrm>
            <a:off x="8358178" y="1179592"/>
            <a:ext cx="12192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Design Requirement </a:t>
            </a:r>
            <a:endParaRPr b="0" i="0" sz="6400" u="none" cap="none" strike="noStrike">
              <a:solidFill>
                <a:srgbClr val="00000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descr="A diagram of a patient mode&#10;&#10;AI-generated content may be incorrect." id="262" name="Google Shape;2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391" y="2224566"/>
            <a:ext cx="21970760" cy="943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/>
        </p:nvSpPr>
        <p:spPr>
          <a:xfrm>
            <a:off x="1168050" y="3933600"/>
            <a:ext cx="173991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how you refined your design after trying out different approaches???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Initially, we designed a basic monitoring system, but during development we refined the design using an            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Agile approach. We improved the system by integrating AI modules such as mood detection and anomaly detection, 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we enhanced usability by simplifying the patient interface and adding voice interaction.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8422525" y="1166325"/>
            <a:ext cx="11187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Design Requirement</a:t>
            </a:r>
            <a:endParaRPr b="0" i="0" sz="1400" u="none" cap="none" strike="noStrike">
              <a:solidFill>
                <a:srgbClr val="00000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8023575" y="1231100"/>
            <a:ext cx="13357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Methodology 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76" name="Google Shape;276;p34"/>
          <p:cNvSpPr/>
          <p:nvPr/>
        </p:nvSpPr>
        <p:spPr>
          <a:xfrm flipH="1">
            <a:off x="959400" y="3671700"/>
            <a:ext cx="11920800" cy="6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RAG approach (Patient Data + Medical Knowledge)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anti-hallucination rules to improve response reliability. 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collected from PDFs, trusted websites, MongoDB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FAISS + embeddings + prompt engineering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Node.js, FastAPI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LLM: LLaMA-3 (via Groq API)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5425" y="3408825"/>
            <a:ext cx="11118476" cy="752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type="title"/>
          </p:nvPr>
        </p:nvSpPr>
        <p:spPr>
          <a:xfrm>
            <a:off x="8023575" y="1231100"/>
            <a:ext cx="8122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 Dataset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985850" y="3485850"/>
            <a:ext cx="21431100" cy="6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Type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dataset: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○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(MongoDB patient records)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○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Unstructured (PDFs + web data)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 &amp; Source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~100 PDF documents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medical websites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patient database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8109300" y="1166800"/>
            <a:ext cx="134127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Implementation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91" name="Google Shape;291;p36"/>
          <p:cNvSpPr/>
          <p:nvPr/>
        </p:nvSpPr>
        <p:spPr>
          <a:xfrm flipH="1">
            <a:off x="342900" y="4457700"/>
            <a:ext cx="10287000" cy="52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Collected and preprocessed medical and patient data.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 FAISS vector database for semantic retrieval.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the RAG chatbot pipeline.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the chatbot with backend and frontend systems.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prompt engineering and safety rules to improve response quality.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925" y="3146600"/>
            <a:ext cx="12888998" cy="788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8023575" y="1231100"/>
            <a:ext cx="1178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299" name="Google Shape;299;p37"/>
          <p:cNvSpPr/>
          <p:nvPr/>
        </p:nvSpPr>
        <p:spPr>
          <a:xfrm flipH="1">
            <a:off x="917200" y="2612600"/>
            <a:ext cx="10075800" cy="38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based on accuracy, relevance, safety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using real user scenarios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0" name="Google Shape;3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6550" y="5989350"/>
            <a:ext cx="7593948" cy="5973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200" y="5989350"/>
            <a:ext cx="7756175" cy="597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42525" y="2612600"/>
            <a:ext cx="7246725" cy="2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6075" y="5989350"/>
            <a:ext cx="7246725" cy="597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8023575" y="1231100"/>
            <a:ext cx="117033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10" name="Google Shape;310;p38"/>
          <p:cNvSpPr/>
          <p:nvPr/>
        </p:nvSpPr>
        <p:spPr>
          <a:xfrm flipH="1">
            <a:off x="917200" y="2612600"/>
            <a:ext cx="10075800" cy="38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based on accuracy, relevance, safety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using real user scenarios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550" y="6092950"/>
            <a:ext cx="7593950" cy="580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6400" y="6092950"/>
            <a:ext cx="7264638" cy="580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5950" y="6092950"/>
            <a:ext cx="7264651" cy="570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55950" y="2997275"/>
            <a:ext cx="7264649" cy="24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8023575" y="1231100"/>
            <a:ext cx="13317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Results &amp; Challenges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988350" y="2897550"/>
            <a:ext cx="18770700" cy="7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RAG System</a:t>
            </a:r>
            <a:endParaRPr b="1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integration of: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○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data + medical knowledge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hallucination significantly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multi-mode chatbot (patient / general)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Hallucination of patient data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Irrelevant retrieval results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working</a:t>
            </a:r>
            <a:endParaRPr b="1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8023575" y="1231100"/>
            <a:ext cx="13216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Methodology 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28" name="Google Shape;328;p40"/>
          <p:cNvSpPr/>
          <p:nvPr/>
        </p:nvSpPr>
        <p:spPr>
          <a:xfrm flipH="1">
            <a:off x="608975" y="3388700"/>
            <a:ext cx="11896800" cy="71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Tracking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Collects patient GPS coordinates using the Geolocation API.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location data in MongoDB.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Geolib to monitor the patient's safety zone.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Sends real-time location updates and alerts to caregivers via Socket.IO.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+ Leaflet (map visualization)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Nodes.js / Express (API) + </a:t>
            </a: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Socket.IO.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200" y="3388700"/>
            <a:ext cx="10515600" cy="762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8023575" y="1231100"/>
            <a:ext cx="13155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Implementation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36" name="Google Shape;336;p41"/>
          <p:cNvSpPr/>
          <p:nvPr/>
        </p:nvSpPr>
        <p:spPr>
          <a:xfrm flipH="1">
            <a:off x="987950" y="3086125"/>
            <a:ext cx="110427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Tracking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real-time GPS tracking for patient monitoring.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a configurable safety zone around the patient.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checks whether the patient remains within the safe area.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automatic alerts when the patient leaves the safety zone.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caregivers with real-time notifications and monitoring.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0" y="3281775"/>
            <a:ext cx="11658577" cy="768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/>
          <p:nvPr>
            <p:ph type="title"/>
          </p:nvPr>
        </p:nvSpPr>
        <p:spPr>
          <a:xfrm>
            <a:off x="8023575" y="1231100"/>
            <a:ext cx="14567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Results &amp; Challenges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1053525" y="3186950"/>
            <a:ext cx="15882600" cy="7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Tracking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Functional real-time tracking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ccurate safety zone alerts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Reliable location monitoring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GPS accuracy variations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Maintaining stable real-time updates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 to Goal: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Enhances patient safety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Provides reliable monitoring for caregivers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8023575" y="1231100"/>
            <a:ext cx="13417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51" name="Google Shape;351;p43"/>
          <p:cNvSpPr/>
          <p:nvPr/>
        </p:nvSpPr>
        <p:spPr>
          <a:xfrm flipH="1">
            <a:off x="1149650" y="3070800"/>
            <a:ext cx="11981400" cy="6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Tracking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location tracking under different movement scenarios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geofence alert generation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real-time update performance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tracking reliability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system stability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8023575" y="1231100"/>
            <a:ext cx="8122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Methodology 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58" name="Google Shape;358;p44"/>
          <p:cNvSpPr/>
          <p:nvPr/>
        </p:nvSpPr>
        <p:spPr>
          <a:xfrm flipH="1">
            <a:off x="938100" y="3065925"/>
            <a:ext cx="12777900" cy="7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reminder &amp; Daily Plan </a:t>
            </a:r>
            <a:endParaRPr b="1"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medication reminder system.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Speech-to-Text (STT) for patient responses.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approach: Rule-Based Logic + LLaMA-3 AI.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Pipeline: Voice → Analysis → Decision → Action.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reliable and safe decision-making.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Node.js, FastAPI,Socket.IO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8400" y="3209212"/>
            <a:ext cx="9681876" cy="429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8400" y="7805975"/>
            <a:ext cx="9681874" cy="40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>
            <p:ph type="title"/>
          </p:nvPr>
        </p:nvSpPr>
        <p:spPr>
          <a:xfrm>
            <a:off x="9843250" y="1166800"/>
            <a:ext cx="124857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Implementation</a:t>
            </a:r>
            <a:endParaRPr/>
          </a:p>
        </p:txBody>
      </p:sp>
      <p:sp>
        <p:nvSpPr>
          <p:cNvPr id="367" name="Google Shape;367;p45"/>
          <p:cNvSpPr/>
          <p:nvPr/>
        </p:nvSpPr>
        <p:spPr>
          <a:xfrm flipH="1">
            <a:off x="524525" y="2670200"/>
            <a:ext cx="11835000" cy="78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reminder &amp; Daily Plan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Family schedules medication reminders and daily events.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respond using voice interaction.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Responses are converted to text and analyzed.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 engine handles most decisions.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LLaMA-3 supports intent detection when needed.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are updated and shared in real time.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6950" y="3152663"/>
            <a:ext cx="11719676" cy="781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8023575" y="1231100"/>
            <a:ext cx="15152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Results &amp; Challenges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1157300" y="2859000"/>
            <a:ext cx="19845300" cy="7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reminder &amp; Daily Plan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voice-to-action processing.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intent detection.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synchronization between users.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STT (speech recognition) errors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Ambiguous patient responses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is fully functional and integrated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/>
          <p:nvPr>
            <p:ph type="title"/>
          </p:nvPr>
        </p:nvSpPr>
        <p:spPr>
          <a:xfrm>
            <a:off x="8023575" y="1231100"/>
            <a:ext cx="15172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82" name="Google Shape;382;p47"/>
          <p:cNvSpPr/>
          <p:nvPr/>
        </p:nvSpPr>
        <p:spPr>
          <a:xfrm flipH="1">
            <a:off x="814975" y="3792075"/>
            <a:ext cx="21939000" cy="56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Medication reminder &amp; Daily Plan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with real voice interaction scenarios.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confirm, deny, and unclear responses.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system decisions with expected outcomes.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accuracy and reliability through testing.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3" name="Google Shape;38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0" y="4039200"/>
            <a:ext cx="10803724" cy="60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type="title"/>
          </p:nvPr>
        </p:nvSpPr>
        <p:spPr>
          <a:xfrm>
            <a:off x="8023575" y="1231100"/>
            <a:ext cx="143457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Methodology 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90" name="Google Shape;390;p48"/>
          <p:cNvSpPr/>
          <p:nvPr/>
        </p:nvSpPr>
        <p:spPr>
          <a:xfrm flipH="1">
            <a:off x="736675" y="2907500"/>
            <a:ext cx="12515400" cy="7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Exercises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cognitive stimulation techniques for Alzheimer’s patients.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Memory Albums to reinforce recognition of familiar people and memories.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Provided personalized exercises for memory, attention, and daily routine skills.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exercise difficulty and tracked progress based on patient performance.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React, Node.js, MongoDB, and FastAPI 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4475" y="3812250"/>
            <a:ext cx="10457325" cy="639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/>
          <p:nvPr>
            <p:ph type="title"/>
          </p:nvPr>
        </p:nvSpPr>
        <p:spPr>
          <a:xfrm>
            <a:off x="8109300" y="1166800"/>
            <a:ext cx="131409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Implementation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398" name="Google Shape;398;p49"/>
          <p:cNvSpPr/>
          <p:nvPr/>
        </p:nvSpPr>
        <p:spPr>
          <a:xfrm flipH="1">
            <a:off x="806750" y="3131000"/>
            <a:ext cx="13140900" cy="86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Exercises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cognitive stimulation therapy to support memory and thinking skills.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Memory Albums to help patients recall familiar people and past experiences.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Included personalized exercises for memory recall, sequence memory, daily routines, and voice recognition.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Monitored performance and adapted activities based on patient progress.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4248" y="3771900"/>
            <a:ext cx="10136026" cy="67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/>
          <p:cNvSpPr txBox="1"/>
          <p:nvPr>
            <p:ph type="title"/>
          </p:nvPr>
        </p:nvSpPr>
        <p:spPr>
          <a:xfrm>
            <a:off x="8023575" y="1231100"/>
            <a:ext cx="152733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Results &amp; Challenges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06" name="Google Shape;406;p50"/>
          <p:cNvSpPr txBox="1"/>
          <p:nvPr/>
        </p:nvSpPr>
        <p:spPr>
          <a:xfrm>
            <a:off x="1157300" y="2859000"/>
            <a:ext cx="19845300" cy="84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Exercises </a:t>
            </a:r>
            <a:endParaRPr b="1" i="0" sz="4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patient engagement and participation.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memory training with personalized exercises.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 continuous tracking of cognitive performance and progress..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different cognitive levels.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Maintaining patient engagement.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Adjusting exercise difficulty.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is fully functional and integrated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>
            <p:ph type="title"/>
          </p:nvPr>
        </p:nvSpPr>
        <p:spPr>
          <a:xfrm>
            <a:off x="8023575" y="1231100"/>
            <a:ext cx="15979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13" name="Google Shape;413;p51"/>
          <p:cNvSpPr/>
          <p:nvPr/>
        </p:nvSpPr>
        <p:spPr>
          <a:xfrm flipH="1">
            <a:off x="814975" y="3043250"/>
            <a:ext cx="21939000" cy="6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Exercises 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completed exercise sessions.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scores, completion rates, and mistakes.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Tracked patient progress over time.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analytics to assess engagement and cognitive performance.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/>
          <p:nvPr>
            <p:ph type="title"/>
          </p:nvPr>
        </p:nvSpPr>
        <p:spPr>
          <a:xfrm>
            <a:off x="8023575" y="1231100"/>
            <a:ext cx="130749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Methodology 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20" name="Google Shape;420;p52"/>
          <p:cNvSpPr/>
          <p:nvPr/>
        </p:nvSpPr>
        <p:spPr>
          <a:xfrm flipH="1">
            <a:off x="736700" y="3348300"/>
            <a:ext cx="18183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Detection</a:t>
            </a:r>
            <a:endParaRPr b="1"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cognitive stimulation techniques for Alzheimer's patients.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Memory Albums to reinforce memory recall and recognition.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Included exercises for memory, attention, and daily routine skills.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Tracked patient performance and progress over time.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Python, PyTorch, WavLM, Hugging Face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1" name="Google Shape;4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6850" y="4215650"/>
            <a:ext cx="9863426" cy="586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type="title"/>
          </p:nvPr>
        </p:nvSpPr>
        <p:spPr>
          <a:xfrm>
            <a:off x="8109300" y="1166800"/>
            <a:ext cx="122631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Implementation 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28" name="Google Shape;428;p53"/>
          <p:cNvSpPr/>
          <p:nvPr/>
        </p:nvSpPr>
        <p:spPr>
          <a:xfrm flipH="1">
            <a:off x="806725" y="3131000"/>
            <a:ext cx="11799900" cy="73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Detection</a:t>
            </a:r>
            <a:endParaRPr b="1"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patient speech recordings.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Classified moods into Calm, Neutral, Low, Content, Anxious, and Agitated.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data augmentation to improve performance.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confidence-based prediction for reliable results.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9" name="Google Shape;4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5775" y="3691225"/>
            <a:ext cx="10718999" cy="66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type="title"/>
          </p:nvPr>
        </p:nvSpPr>
        <p:spPr>
          <a:xfrm>
            <a:off x="8023575" y="1231100"/>
            <a:ext cx="146481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Results &amp; Challenges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36" name="Google Shape;436;p54"/>
          <p:cNvSpPr txBox="1"/>
          <p:nvPr/>
        </p:nvSpPr>
        <p:spPr>
          <a:xfrm>
            <a:off x="1157300" y="2859000"/>
            <a:ext cx="19845300" cy="8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Detection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detected mood from speech.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prediction accuracy using WavLM.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 automatic mood monitoring.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speech qualities and accents.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 in datasets.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uncertain predictions.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is fully functional and integrated.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3174" y="3119275"/>
            <a:ext cx="4273225" cy="42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1300" y="7604300"/>
            <a:ext cx="8471625" cy="38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 txBox="1"/>
          <p:nvPr>
            <p:ph type="title"/>
          </p:nvPr>
        </p:nvSpPr>
        <p:spPr>
          <a:xfrm>
            <a:off x="8023575" y="1231100"/>
            <a:ext cx="128733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</a:t>
            </a: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Evaluation Plan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45" name="Google Shape;445;p55"/>
          <p:cNvSpPr/>
          <p:nvPr/>
        </p:nvSpPr>
        <p:spPr>
          <a:xfrm flipH="1">
            <a:off x="814925" y="3043250"/>
            <a:ext cx="14736600" cy="4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 Detection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model performance using classification metrics.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Accuracy, Precision, Recall, and F1-Score.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Confusion Matrix for prediction analysis.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Assessed prediction confidence and reliability.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6" name="Google Shape;4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4300" y="7457400"/>
            <a:ext cx="7593100" cy="42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30500" y="7457400"/>
            <a:ext cx="7930950" cy="42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925" y="7457400"/>
            <a:ext cx="6296275" cy="429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6"/>
          <p:cNvSpPr txBox="1"/>
          <p:nvPr>
            <p:ph type="title"/>
          </p:nvPr>
        </p:nvSpPr>
        <p:spPr>
          <a:xfrm>
            <a:off x="8023575" y="1231100"/>
            <a:ext cx="8122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 sz="64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         Dataset</a:t>
            </a:r>
            <a:endParaRPr sz="6400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455" name="Google Shape;455;p56"/>
          <p:cNvSpPr txBox="1"/>
          <p:nvPr/>
        </p:nvSpPr>
        <p:spPr>
          <a:xfrm>
            <a:off x="964400" y="3593000"/>
            <a:ext cx="12650700" cy="6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 Detection </a:t>
            </a:r>
            <a:r>
              <a:rPr b="1" i="0" lang="en-US" sz="4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b="1" i="0" sz="4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RAVDESS, CREMA-D, TESS, SAVEE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Type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Labeled speech emotion recordings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Processing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WavLM feature extraction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preprocessing &amp; augmentation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6" name="Google Shape;45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1850" y="3705350"/>
            <a:ext cx="10388525" cy="6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/>
        </p:nvSpPr>
        <p:spPr>
          <a:xfrm>
            <a:off x="8401050" y="1093000"/>
            <a:ext cx="11658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   Project Component</a:t>
            </a:r>
            <a:endParaRPr b="0" i="0" sz="6400" u="none" cap="none" strike="noStrike">
              <a:solidFill>
                <a:srgbClr val="002060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id="463" name="Google Shape;46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2175" y="2901450"/>
            <a:ext cx="18595751" cy="86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10184400" y="1224775"/>
            <a:ext cx="95967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Trebuchet MS"/>
              <a:buNone/>
            </a:pPr>
            <a:r>
              <a:rPr lang="en-US" sz="66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References</a:t>
            </a:r>
            <a:endParaRPr/>
          </a:p>
        </p:txBody>
      </p:sp>
      <p:sp>
        <p:nvSpPr>
          <p:cNvPr id="469" name="Google Shape;469;p58"/>
          <p:cNvSpPr txBox="1"/>
          <p:nvPr>
            <p:ph idx="1" type="body"/>
          </p:nvPr>
        </p:nvSpPr>
        <p:spPr>
          <a:xfrm>
            <a:off x="1354668" y="4321179"/>
            <a:ext cx="21243418" cy="7761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Times New Roman"/>
              <a:buChar char="⮚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https://arxiv.org/abs/2006.11477</a:t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Times New Roman"/>
              <a:buChar char="⮚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https://journals.plos.org/plosone/article?id=10.1371/journal.pone.0196391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  <a:hlinkClick r:id="rId5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Times New Roman"/>
              <a:buChar char="⮚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https://sail.usc.edu/iemocap/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  <a:hlinkClick r:id="rId7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Times New Roman"/>
              <a:buChar char="⮚"/>
            </a:pP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https://huggingface.co/superb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  <a:hlinkClick r:id="rId9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9"/>
          <p:cNvSpPr txBox="1"/>
          <p:nvPr>
            <p:ph type="title"/>
          </p:nvPr>
        </p:nvSpPr>
        <p:spPr>
          <a:xfrm>
            <a:off x="348537" y="5248413"/>
            <a:ext cx="23172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6400"/>
              <a:buFont typeface="Trebuchet MS"/>
              <a:buNone/>
            </a:pPr>
            <a:r>
              <a:rPr lang="en-US" sz="9000">
                <a:solidFill>
                  <a:srgbClr val="002060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 Thank you</a:t>
            </a:r>
            <a:br>
              <a:rPr lang="en-US" sz="9000">
                <a:solidFill>
                  <a:srgbClr val="002060"/>
                </a:solidFill>
              </a:rPr>
            </a:br>
            <a:endParaRPr sz="90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